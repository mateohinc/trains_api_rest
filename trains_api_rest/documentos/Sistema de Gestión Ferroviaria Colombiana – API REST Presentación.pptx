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7" d="100"/>
          <a:sy n="77" d="100"/>
        </p:scale>
        <p:origin x="4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9730A-8773-4AEA-AA4A-7C571CB5B2D5}" type="datetimeFigureOut">
              <a:rPr lang="es-CO" smtClean="0"/>
              <a:t>4/03/2026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A3983-39DE-41CE-B5F6-3366D9332F4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40696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9730A-8773-4AEA-AA4A-7C571CB5B2D5}" type="datetimeFigureOut">
              <a:rPr lang="es-CO" smtClean="0"/>
              <a:t>4/03/2026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A3983-39DE-41CE-B5F6-3366D9332F4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8996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9730A-8773-4AEA-AA4A-7C571CB5B2D5}" type="datetimeFigureOut">
              <a:rPr lang="es-CO" smtClean="0"/>
              <a:t>4/03/2026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A3983-39DE-41CE-B5F6-3366D9332F4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4375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9730A-8773-4AEA-AA4A-7C571CB5B2D5}" type="datetimeFigureOut">
              <a:rPr lang="es-CO" smtClean="0"/>
              <a:t>4/03/2026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A3983-39DE-41CE-B5F6-3366D9332F4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46712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9730A-8773-4AEA-AA4A-7C571CB5B2D5}" type="datetimeFigureOut">
              <a:rPr lang="es-CO" smtClean="0"/>
              <a:t>4/03/2026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A3983-39DE-41CE-B5F6-3366D9332F4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39322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9730A-8773-4AEA-AA4A-7C571CB5B2D5}" type="datetimeFigureOut">
              <a:rPr lang="es-CO" smtClean="0"/>
              <a:t>4/03/2026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A3983-39DE-41CE-B5F6-3366D9332F4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63622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9730A-8773-4AEA-AA4A-7C571CB5B2D5}" type="datetimeFigureOut">
              <a:rPr lang="es-CO" smtClean="0"/>
              <a:t>4/03/2026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A3983-39DE-41CE-B5F6-3366D9332F4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69921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9730A-8773-4AEA-AA4A-7C571CB5B2D5}" type="datetimeFigureOut">
              <a:rPr lang="es-CO" smtClean="0"/>
              <a:t>4/03/2026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A3983-39DE-41CE-B5F6-3366D9332F4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8350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A3983-39DE-41CE-B5F6-3366D9332F43}" type="slidenum">
              <a:rPr lang="es-CO" smtClean="0"/>
              <a:t>‹Nº›</a:t>
            </a:fld>
            <a:endParaRPr lang="es-CO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9730A-8773-4AEA-AA4A-7C571CB5B2D5}" type="datetimeFigureOut">
              <a:rPr lang="es-CO" smtClean="0"/>
              <a:t>4/03/2026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10087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9730A-8773-4AEA-AA4A-7C571CB5B2D5}" type="datetimeFigureOut">
              <a:rPr lang="es-CO" smtClean="0"/>
              <a:t>4/03/2026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A3983-39DE-41CE-B5F6-3366D9332F4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35200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9730A-8773-4AEA-AA4A-7C571CB5B2D5}" type="datetimeFigureOut">
              <a:rPr lang="es-CO" smtClean="0"/>
              <a:t>4/03/2026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A3983-39DE-41CE-B5F6-3366D9332F43}" type="slidenum">
              <a:rPr lang="es-CO" smtClean="0"/>
              <a:t>‹Nº›</a:t>
            </a:fld>
            <a:endParaRPr lang="es-CO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533693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9730A-8773-4AEA-AA4A-7C571CB5B2D5}" type="datetimeFigureOut">
              <a:rPr lang="es-CO" smtClean="0"/>
              <a:t>4/03/2026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A3983-39DE-41CE-B5F6-3366D9332F4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975872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9730A-8773-4AEA-AA4A-7C571CB5B2D5}" type="datetimeFigureOut">
              <a:rPr lang="es-CO" smtClean="0"/>
              <a:t>4/03/2026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A3983-39DE-41CE-B5F6-3366D9332F43}" type="slidenum">
              <a:rPr lang="es-CO" smtClean="0"/>
              <a:t>‹Nº›</a:t>
            </a:fld>
            <a:endParaRPr lang="es-CO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903101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9730A-8773-4AEA-AA4A-7C571CB5B2D5}" type="datetimeFigureOut">
              <a:rPr lang="es-CO" smtClean="0"/>
              <a:t>4/03/2026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A3983-39DE-41CE-B5F6-3366D9332F4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896062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9730A-8773-4AEA-AA4A-7C571CB5B2D5}" type="datetimeFigureOut">
              <a:rPr lang="es-CO" smtClean="0"/>
              <a:t>4/03/2026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A3983-39DE-41CE-B5F6-3366D9332F4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817594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9730A-8773-4AEA-AA4A-7C571CB5B2D5}" type="datetimeFigureOut">
              <a:rPr lang="es-CO" smtClean="0"/>
              <a:t>4/03/2026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A3983-39DE-41CE-B5F6-3366D9332F4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98756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E9730A-8773-4AEA-AA4A-7C571CB5B2D5}" type="datetimeFigureOut">
              <a:rPr lang="es-CO" smtClean="0"/>
              <a:t>4/03/2026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03A3983-39DE-41CE-B5F6-3366D9332F4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35080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6F4BC1-9F74-4891-BB83-31F32B21FB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04531"/>
            <a:ext cx="8711353" cy="1646302"/>
          </a:xfrm>
        </p:spPr>
        <p:txBody>
          <a:bodyPr anchor="t"/>
          <a:lstStyle/>
          <a:p>
            <a:pPr algn="l"/>
            <a:r>
              <a:rPr lang="es-CO" sz="4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Sistema de Gestión Ferroviaria Colombiana – API REST Java </a:t>
            </a:r>
            <a:r>
              <a:rPr lang="es-CO" sz="40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SpringBoot</a:t>
            </a:r>
            <a:endParaRPr lang="es-CO" sz="40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67EC9A9-3043-4218-9B66-F201378B61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416593"/>
            <a:ext cx="7766936" cy="1096899"/>
          </a:xfrm>
        </p:spPr>
        <p:txBody>
          <a:bodyPr>
            <a:normAutofit/>
          </a:bodyPr>
          <a:lstStyle/>
          <a:p>
            <a:r>
              <a:rPr lang="es-CO" sz="2800" b="1" dirty="0"/>
              <a:t>Presentado por: Mateo Hincapié Giraldo</a:t>
            </a:r>
          </a:p>
        </p:txBody>
      </p:sp>
    </p:spTree>
    <p:extLst>
      <p:ext uri="{BB962C8B-B14F-4D97-AF65-F5344CB8AC3E}">
        <p14:creationId xmlns:p14="http://schemas.microsoft.com/office/powerpoint/2010/main" val="3530674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16EB36-9A15-4B70-9E6E-1A3603D47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/>
              <a:t>Introducción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B08ED0-D838-4E59-9633-DDA9E3FAD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2000" dirty="0"/>
              <a:t>El transporte ferroviario requiere sistemas tecnológicos que permitan gestionar de forma eficiente trenes, rutas y reservas de tickets.</a:t>
            </a:r>
          </a:p>
          <a:p>
            <a:endParaRPr lang="es-CO" sz="2000" dirty="0"/>
          </a:p>
          <a:p>
            <a:r>
              <a:rPr lang="es-CO" sz="2000" dirty="0"/>
              <a:t>En este proyecto consiste en el desarrollo de una API </a:t>
            </a:r>
            <a:r>
              <a:rPr lang="es-CO" sz="2000" dirty="0" err="1"/>
              <a:t>Rest</a:t>
            </a:r>
            <a:r>
              <a:rPr lang="es-CO" sz="2000" dirty="0"/>
              <a:t> utilizando Java y </a:t>
            </a:r>
            <a:r>
              <a:rPr lang="es-CO" sz="2000" dirty="0" err="1"/>
              <a:t>SpringBoot</a:t>
            </a:r>
            <a:r>
              <a:rPr lang="es-CO" sz="2000" dirty="0"/>
              <a:t>, que permite administrar la información del sistema ferroviario y facilitar la integración con aplicaciones web o móviles.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E9DD554-EA37-4D3B-AB36-576B6DFC4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4102" y="4737165"/>
            <a:ext cx="1831566" cy="183156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7B062CD0-9159-407E-8F71-68108ED2C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4768" y="4737165"/>
            <a:ext cx="1831566" cy="1831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708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30653F-72C0-4D9C-9D7D-249AF8B5F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30580"/>
          </a:xfrm>
        </p:spPr>
        <p:txBody>
          <a:bodyPr/>
          <a:lstStyle/>
          <a:p>
            <a:pPr algn="ctr"/>
            <a:r>
              <a:rPr lang="es-CO" dirty="0"/>
              <a:t>Planteamiento del Problema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E3B8C1-B9AA-4655-B51F-71F9BABFB9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1440180"/>
            <a:ext cx="4717626" cy="46011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2000" dirty="0"/>
              <a:t>Muchos sistemas de transporte presentan problemas como:</a:t>
            </a:r>
          </a:p>
          <a:p>
            <a:pPr marL="0" indent="0">
              <a:buNone/>
            </a:pPr>
            <a:endParaRPr lang="es-CO" sz="2000" dirty="0"/>
          </a:p>
          <a:p>
            <a:r>
              <a:rPr lang="es-CO" sz="2000" dirty="0"/>
              <a:t>Falta de control en la gestión de reservas.</a:t>
            </a:r>
          </a:p>
          <a:p>
            <a:r>
              <a:rPr lang="es-CO" sz="2000" dirty="0"/>
              <a:t>Dificultad para administrar rutas y horarios.</a:t>
            </a:r>
          </a:p>
          <a:p>
            <a:r>
              <a:rPr lang="es-CO" sz="2000" dirty="0"/>
              <a:t>Ausencia de sistemas centralizado para consultar disponibilidad.</a:t>
            </a:r>
          </a:p>
          <a:p>
            <a:r>
              <a:rPr lang="es-CO" sz="2000" dirty="0"/>
              <a:t>Poca integración tecnológica entre servicios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1DFA130-E187-4BF8-AE8B-DD8BC3964B3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5100" y="2159924"/>
            <a:ext cx="3658635" cy="3881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565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F4A7AF-5576-4152-B155-0CEC7A704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4184035" cy="1320800"/>
          </a:xfrm>
        </p:spPr>
        <p:txBody>
          <a:bodyPr/>
          <a:lstStyle/>
          <a:p>
            <a:pPr algn="ctr"/>
            <a:r>
              <a:rPr lang="es-CO" dirty="0"/>
              <a:t>Objetivo </a:t>
            </a:r>
            <a:br>
              <a:rPr lang="es-CO" dirty="0"/>
            </a:br>
            <a:r>
              <a:rPr lang="es-CO" dirty="0"/>
              <a:t>General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28AFAB-98A1-4893-A16F-6B1AB38EB9A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CO" sz="2000" dirty="0"/>
              <a:t>Desarrollar una API REST para la gestión de un sistema ferroviario en Colombia que permita administrar trenes, estaciones, rutas, horarios y tickets mediante el uso del </a:t>
            </a:r>
            <a:r>
              <a:rPr lang="es-CO" sz="2000" dirty="0" err="1"/>
              <a:t>framework</a:t>
            </a:r>
            <a:r>
              <a:rPr lang="es-CO" sz="2000" dirty="0"/>
              <a:t> Java </a:t>
            </a:r>
            <a:r>
              <a:rPr lang="es-CO" sz="2000" dirty="0" err="1"/>
              <a:t>SpringBoot</a:t>
            </a:r>
            <a:r>
              <a:rPr lang="es-CO" sz="2000" dirty="0"/>
              <a:t>.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0A98786-B0F7-4B90-8804-7205E28A19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945570" cy="3880773"/>
          </a:xfrm>
        </p:spPr>
        <p:txBody>
          <a:bodyPr>
            <a:normAutofit/>
          </a:bodyPr>
          <a:lstStyle/>
          <a:p>
            <a:r>
              <a:rPr lang="es-CO" sz="2000" dirty="0"/>
              <a:t>Diseñar una base de datos para gestionar trenes, rutas y tickets.</a:t>
            </a:r>
          </a:p>
          <a:p>
            <a:r>
              <a:rPr lang="es-CO" sz="2000" dirty="0"/>
              <a:t>Implementar </a:t>
            </a:r>
            <a:r>
              <a:rPr lang="es-CO" sz="2000" dirty="0" err="1"/>
              <a:t>endpoints</a:t>
            </a:r>
            <a:r>
              <a:rPr lang="es-CO" sz="2000" dirty="0"/>
              <a:t> REST para operaciones CRUD.</a:t>
            </a:r>
          </a:p>
          <a:p>
            <a:r>
              <a:rPr lang="es-CO" sz="2000" dirty="0"/>
              <a:t>Validar reglas de negocios como disponibilidad de asientos.</a:t>
            </a:r>
          </a:p>
          <a:p>
            <a:r>
              <a:rPr lang="es-CO" sz="2000" dirty="0"/>
              <a:t>Generar reportes sobre uso de trenes e ingresos.</a:t>
            </a:r>
          </a:p>
          <a:p>
            <a:r>
              <a:rPr lang="es-CO" sz="2000" dirty="0"/>
              <a:t>Documentar el sistema para facilitar su integración.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6C8B3A8-506E-4671-8C00-EE8C1F209D3D}"/>
              </a:ext>
            </a:extLst>
          </p:cNvPr>
          <p:cNvSpPr txBox="1"/>
          <p:nvPr/>
        </p:nvSpPr>
        <p:spPr>
          <a:xfrm>
            <a:off x="5370310" y="609600"/>
            <a:ext cx="39206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Objetivos</a:t>
            </a:r>
            <a:r>
              <a:rPr lang="es-CO" dirty="0"/>
              <a:t> </a:t>
            </a:r>
            <a:r>
              <a:rPr lang="es-CO" sz="36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Específicos</a:t>
            </a:r>
          </a:p>
        </p:txBody>
      </p:sp>
    </p:spTree>
    <p:extLst>
      <p:ext uri="{BB962C8B-B14F-4D97-AF65-F5344CB8AC3E}">
        <p14:creationId xmlns:p14="http://schemas.microsoft.com/office/powerpoint/2010/main" val="1259666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C4B840-E8F5-43C9-BEF4-75C9F2151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/>
              <a:t>Tecnologías Utilizadas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0A2C5A-0571-4B6C-8127-03E40E0B27C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s-CO" sz="2000" dirty="0"/>
              <a:t>Java – Lenguaje de programación.</a:t>
            </a:r>
          </a:p>
          <a:p>
            <a:r>
              <a:rPr lang="es-CO" sz="2000" dirty="0" err="1"/>
              <a:t>SpringBoot</a:t>
            </a:r>
            <a:r>
              <a:rPr lang="es-CO" sz="2000" dirty="0"/>
              <a:t> – Framework </a:t>
            </a:r>
            <a:r>
              <a:rPr lang="es-CO" sz="2000" dirty="0" err="1"/>
              <a:t>Backend</a:t>
            </a:r>
            <a:r>
              <a:rPr lang="es-CO" sz="2000" dirty="0"/>
              <a:t>.</a:t>
            </a:r>
          </a:p>
          <a:p>
            <a:r>
              <a:rPr lang="es-CO" sz="2000" dirty="0"/>
              <a:t>PostgreSQL – Base de datos.</a:t>
            </a:r>
          </a:p>
          <a:p>
            <a:r>
              <a:rPr lang="es-CO" sz="2000" dirty="0" err="1"/>
              <a:t>Postman</a:t>
            </a:r>
            <a:r>
              <a:rPr lang="es-CO" sz="2000" dirty="0"/>
              <a:t> – Pruebas de API.</a:t>
            </a:r>
          </a:p>
          <a:p>
            <a:r>
              <a:rPr lang="es-CO" sz="2000" dirty="0" err="1"/>
              <a:t>Github</a:t>
            </a:r>
            <a:r>
              <a:rPr lang="es-CO" sz="2000" dirty="0"/>
              <a:t> – Control de versiones.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8E09832-B732-4DD3-AD60-97B4D2678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278" y="1930400"/>
            <a:ext cx="1432560" cy="143256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427C0B6-8AC4-49D3-B9D1-61A75DD3AF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7747" y="1550670"/>
            <a:ext cx="1432560" cy="143256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1FC4D38-E4E3-45B7-B2DB-436A9B6B10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0307" y="2420620"/>
            <a:ext cx="1432561" cy="143256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7DB2DFF4-1979-4EE0-A2E4-21C5113CD5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3027" y="4483100"/>
            <a:ext cx="1432560" cy="143256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315AEC15-43FF-49C3-BA82-95D9F8D155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8527" y="3228340"/>
            <a:ext cx="1432560" cy="1432560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B852CBD9-60A7-4AB5-965C-180A158607E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6192" y="4343401"/>
            <a:ext cx="1432560" cy="1432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79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BF826-17C2-46EC-8885-7BAD7EA9D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636" y="557558"/>
            <a:ext cx="8596668" cy="722602"/>
          </a:xfrm>
        </p:spPr>
        <p:txBody>
          <a:bodyPr/>
          <a:lstStyle/>
          <a:p>
            <a:pPr algn="ctr"/>
            <a:r>
              <a:rPr lang="es-CO" dirty="0"/>
              <a:t>Arquitectura del Sistema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CBC7CE7-03CE-440C-8898-C20841B14D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1280160"/>
            <a:ext cx="4184035" cy="53720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2000" dirty="0"/>
              <a:t>El sistema está basado en arquitectura REST utilizando el patrón MVC (Modelo – Vista – Controlador).</a:t>
            </a:r>
          </a:p>
          <a:p>
            <a:endParaRPr lang="es-CO" sz="2000" dirty="0"/>
          </a:p>
          <a:p>
            <a:pPr marL="0" indent="0">
              <a:buNone/>
            </a:pPr>
            <a:r>
              <a:rPr lang="es-CO" sz="2000" dirty="0"/>
              <a:t>Componentes principales:</a:t>
            </a:r>
          </a:p>
          <a:p>
            <a:pPr lvl="1"/>
            <a:r>
              <a:rPr lang="es-CO" sz="2000" dirty="0"/>
              <a:t>Modelos.</a:t>
            </a:r>
          </a:p>
          <a:p>
            <a:pPr lvl="1"/>
            <a:r>
              <a:rPr lang="es-CO" sz="2000" dirty="0"/>
              <a:t>Controladores.</a:t>
            </a:r>
          </a:p>
          <a:p>
            <a:pPr lvl="1"/>
            <a:r>
              <a:rPr lang="es-CO" sz="2000" dirty="0"/>
              <a:t>Servicios.</a:t>
            </a:r>
          </a:p>
          <a:p>
            <a:pPr lvl="1"/>
            <a:r>
              <a:rPr lang="es-CO" sz="2000" dirty="0"/>
              <a:t>Bases de datos.</a:t>
            </a:r>
          </a:p>
          <a:p>
            <a:pPr lvl="1"/>
            <a:r>
              <a:rPr lang="es-CO" sz="2000" dirty="0" err="1"/>
              <a:t>Endpoints</a:t>
            </a:r>
            <a:r>
              <a:rPr lang="es-CO" sz="2000" dirty="0"/>
              <a:t> REST.</a:t>
            </a:r>
          </a:p>
          <a:p>
            <a:pPr marL="0" indent="0">
              <a:buNone/>
            </a:pPr>
            <a:r>
              <a:rPr lang="es-CO" sz="2000" dirty="0"/>
              <a:t>Las respuestas se entregan en formato JSON.</a:t>
            </a:r>
          </a:p>
        </p:txBody>
      </p:sp>
      <p:pic>
        <p:nvPicPr>
          <p:cNvPr id="2050" name="Picture 2" descr="Patrón de diseño MVC. ¿Qué es y cómo puedo utilizarlo? | Easy App CODE">
            <a:extLst>
              <a:ext uri="{FF2B5EF4-FFF2-40B4-BE49-F238E27FC236}">
                <a16:creationId xmlns:a16="http://schemas.microsoft.com/office/drawing/2014/main" id="{E504667D-BB1E-4F91-AF4F-379C694B77B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3912" y="2395170"/>
            <a:ext cx="5321850" cy="3142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2237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D03E7D-BA1D-43E9-ACF9-491001038D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914400"/>
            <a:ext cx="4184035" cy="5126961"/>
          </a:xfrm>
        </p:spPr>
        <p:txBody>
          <a:bodyPr/>
          <a:lstStyle/>
          <a:p>
            <a:pPr marL="0" indent="0">
              <a:buNone/>
            </a:pPr>
            <a:r>
              <a:rPr lang="es-CO" sz="2000" dirty="0"/>
              <a:t>Funcionalidades del Sistema</a:t>
            </a:r>
          </a:p>
          <a:p>
            <a:r>
              <a:rPr lang="es-CO" sz="2000" dirty="0"/>
              <a:t>Gestión de trenes.</a:t>
            </a:r>
          </a:p>
          <a:p>
            <a:r>
              <a:rPr lang="es-CO" sz="2000" dirty="0"/>
              <a:t>Gestión de estaciones.</a:t>
            </a:r>
          </a:p>
          <a:p>
            <a:r>
              <a:rPr lang="es-CO" sz="2000" dirty="0"/>
              <a:t>Administración de rutas.</a:t>
            </a:r>
          </a:p>
          <a:p>
            <a:r>
              <a:rPr lang="es-CO" sz="2000" dirty="0"/>
              <a:t>Programación de horarios.</a:t>
            </a:r>
          </a:p>
          <a:p>
            <a:r>
              <a:rPr lang="es-CO" sz="2000" dirty="0"/>
              <a:t>Compra y cancelación de tickets.</a:t>
            </a:r>
          </a:p>
          <a:p>
            <a:r>
              <a:rPr lang="es-CO" sz="2000" dirty="0"/>
              <a:t>Consulta de disponibilidad de asientos.</a:t>
            </a:r>
          </a:p>
          <a:p>
            <a:r>
              <a:rPr lang="es-CO" sz="2000" dirty="0"/>
              <a:t>Reportes de ocupación de trenes</a:t>
            </a:r>
          </a:p>
          <a:p>
            <a:endParaRPr lang="es-CO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99A602B-751E-4A04-A34B-BFBD0ED389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9970" y="914401"/>
            <a:ext cx="4184034" cy="51269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2000" dirty="0"/>
              <a:t>Resultados del Proyecto</a:t>
            </a:r>
          </a:p>
          <a:p>
            <a:pPr marL="0" indent="0">
              <a:buNone/>
            </a:pPr>
            <a:r>
              <a:rPr lang="es-CO" sz="2000" dirty="0"/>
              <a:t>El sistema desarrollado permite:</a:t>
            </a:r>
          </a:p>
          <a:p>
            <a:r>
              <a:rPr lang="es-CO" sz="2000" dirty="0"/>
              <a:t>Control eficiente de reservas.</a:t>
            </a:r>
          </a:p>
          <a:p>
            <a:r>
              <a:rPr lang="es-CO" sz="2000" dirty="0"/>
              <a:t>Administración de trenes y rutas.</a:t>
            </a:r>
          </a:p>
          <a:p>
            <a:r>
              <a:rPr lang="es-CO" sz="2000" dirty="0"/>
              <a:t>Validación automática de disponibilidad.</a:t>
            </a:r>
          </a:p>
          <a:p>
            <a:r>
              <a:rPr lang="es-CO" sz="2000" dirty="0"/>
              <a:t>Generación de reportes operativos.</a:t>
            </a:r>
          </a:p>
          <a:p>
            <a:endParaRPr lang="es-CO" sz="2000" dirty="0"/>
          </a:p>
          <a:p>
            <a:pPr marL="0" indent="0">
              <a:buNone/>
            </a:pPr>
            <a:r>
              <a:rPr lang="es-CO" sz="2000" dirty="0"/>
              <a:t>Además, la API puede integrarse con aplicaciones web o móviles.</a:t>
            </a:r>
          </a:p>
        </p:txBody>
      </p:sp>
    </p:spTree>
    <p:extLst>
      <p:ext uri="{BB962C8B-B14F-4D97-AF65-F5344CB8AC3E}">
        <p14:creationId xmlns:p14="http://schemas.microsoft.com/office/powerpoint/2010/main" val="139279220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Verd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138</TotalTime>
  <Words>348</Words>
  <Application>Microsoft Office PowerPoint</Application>
  <PresentationFormat>Panorámica</PresentationFormat>
  <Paragraphs>53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Calibri</vt:lpstr>
      <vt:lpstr>Trebuchet MS</vt:lpstr>
      <vt:lpstr>Wingdings 3</vt:lpstr>
      <vt:lpstr>Faceta</vt:lpstr>
      <vt:lpstr>Sistema de Gestión Ferroviaria Colombiana – API REST Java SpringBoot</vt:lpstr>
      <vt:lpstr>Introducción</vt:lpstr>
      <vt:lpstr>Planteamiento del Problema</vt:lpstr>
      <vt:lpstr>Objetivo  General</vt:lpstr>
      <vt:lpstr>Tecnologías Utilizadas</vt:lpstr>
      <vt:lpstr>Arquitectura del Sistema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Gestión Ferroviaria Colombiana – API REST Java SpringBoot</dc:title>
  <dc:creator>MATEO HINCAPIE GIRALDO</dc:creator>
  <cp:lastModifiedBy>MATEO HINCAPIE GIRALDO</cp:lastModifiedBy>
  <cp:revision>1</cp:revision>
  <dcterms:created xsi:type="dcterms:W3CDTF">2026-03-04T17:55:14Z</dcterms:created>
  <dcterms:modified xsi:type="dcterms:W3CDTF">2026-03-04T20:13:44Z</dcterms:modified>
</cp:coreProperties>
</file>